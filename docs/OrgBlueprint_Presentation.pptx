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Practical Vibe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60A5FA"/>
                </a:solidFill>
                <a:latin typeface="Calibri"/>
              </a:rPr>
              <a:t>Building a Production-Ready App with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41148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94A3B8"/>
                </a:solidFill>
                <a:latin typeface="Calibri"/>
              </a:rPr>
              <a:t>"From a sales problem to a live product — in a weekend"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Naveen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64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02 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We Are Already in the 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11612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214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60A5FA"/>
                </a:solidFill>
                <a:latin typeface="Calibri"/>
              </a:rPr>
              <a:t>"We are already in the middle of the AI era. This is not the warm-up. This is the race."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68880"/>
            <a:ext cx="11521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FFFFFF"/>
                </a:solidFill>
                <a:latin typeface="Calibri"/>
              </a:rPr>
              <a:t>Speed matters. Curiosity matters. Adaptability matters.</a:t>
            </a:r>
          </a:p>
          <a:p>
            <a:pPr algn="l">
              <a:spcBef>
                <a:spcPts val="500"/>
              </a:spcBef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FFFFFF"/>
                </a:solidFill>
                <a:latin typeface="Calibri"/>
              </a:rPr>
              <a:t>AI is not replacing us — it's making our experience, decisions, and output much faster and more productive.</a:t>
            </a:r>
          </a:p>
          <a:p>
            <a:pPr algn="l">
              <a:spcBef>
                <a:spcPts val="500"/>
              </a:spcBef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FFFFFF"/>
                </a:solidFill>
                <a:latin typeface="Calibri"/>
              </a:rPr>
              <a:t>The question is not "should I learn AI?" — it's "how fast can I start?"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64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03  Origin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Where the Idea Came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11612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11521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FFFFFF"/>
                </a:solidFill>
                <a:latin typeface="Calibri"/>
              </a:rPr>
              <a:t>Working in sales, Naveen noticed a real gap</a:t>
            </a:r>
          </a:p>
          <a:p>
            <a:pPr algn="l">
              <a:spcBef>
                <a:spcPts val="500"/>
              </a:spcBef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FFFFFF"/>
                </a:solidFill>
                <a:latin typeface="Calibri"/>
              </a:rPr>
              <a:t>Too many departments, too many handoffs, too many support calls — for something that could be answered with the right document and research</a:t>
            </a:r>
          </a:p>
          <a:p>
            <a:pPr algn="l">
              <a:spcBef>
                <a:spcPts val="500"/>
              </a:spcBef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FFFFFF"/>
                </a:solidFill>
                <a:latin typeface="Calibri"/>
              </a:rPr>
              <a:t>"Why does it take so many people and so many iterations when the information already exists?"</a:t>
            </a:r>
          </a:p>
          <a:p>
            <a:pPr algn="l">
              <a:spcBef>
                <a:spcPts val="500"/>
              </a:spcBef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FFFFFF"/>
                </a:solidFill>
                <a:latin typeface="Calibri"/>
              </a:rPr>
              <a:t>Thought: What if I could close that gap with something I build myself?</a:t>
            </a:r>
          </a:p>
          <a:p>
            <a:pPr algn="l">
              <a:spcBef>
                <a:spcPts val="500"/>
              </a:spcBef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FFFFFF"/>
                </a:solidFill>
                <a:latin typeface="Calibri"/>
              </a:rPr>
              <a:t>Did not wait for a team, a budget, or a project plan — just started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64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04 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is OrgBlueprint?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11612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152144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60A5FA"/>
                </a:solidFill>
                <a:latin typeface="Calibri"/>
              </a:rPr>
              <a:t>AI-powered Salesforce CRM blueprint generator — describe your business in plain English, get a full architecture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200" b="1">
                <a:solidFill>
                  <a:srgbClr val="60A5FA"/>
                </a:solidFill>
                <a:latin typeface="Calibri"/>
              </a:rPr>
              <a:t>What it produces</a:t>
            </a:r>
          </a:p>
          <a:p>
            <a:pPr algn="l">
              <a:spcBef>
                <a:spcPts val="500"/>
              </a:spcBef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FFFFFF"/>
                </a:solidFill>
                <a:latin typeface="Calibri"/>
              </a:rPr>
              <a:t>Product recommendations</a:t>
            </a:r>
          </a:p>
          <a:p>
            <a:pPr algn="l">
              <a:spcBef>
                <a:spcPts val="500"/>
              </a:spcBef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FFFFFF"/>
                </a:solidFill>
                <a:latin typeface="Calibri"/>
              </a:rPr>
              <a:t>Architecture guidance</a:t>
            </a:r>
          </a:p>
          <a:p>
            <a:pPr algn="l">
              <a:spcBef>
                <a:spcPts val="500"/>
              </a:spcBef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FFFFFF"/>
                </a:solidFill>
                <a:latin typeface="Calibri"/>
              </a:rPr>
              <a:t>Cost estimates</a:t>
            </a:r>
          </a:p>
          <a:p>
            <a:pPr algn="l">
              <a:spcBef>
                <a:spcPts val="500"/>
              </a:spcBef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FFFFFF"/>
                </a:solidFill>
                <a:latin typeface="Calibri"/>
              </a:rPr>
              <a:t>Phased roadmap</a:t>
            </a:r>
          </a:p>
          <a:p>
            <a:pPr algn="l">
              <a:spcBef>
                <a:spcPts val="500"/>
              </a:spcBef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FFFFFF"/>
                </a:solidFill>
                <a:latin typeface="Calibri"/>
              </a:rPr>
              <a:t>Document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01168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200" b="1">
                <a:solidFill>
                  <a:srgbClr val="60A5FA"/>
                </a:solidFill>
                <a:latin typeface="Calibri"/>
              </a:rPr>
              <a:t>Two modes</a:t>
            </a:r>
          </a:p>
          <a:p>
            <a:pPr algn="l">
              <a:spcBef>
                <a:spcPts val="500"/>
              </a:spcBef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FFFFFF"/>
                </a:solidFill>
                <a:latin typeface="Calibri"/>
              </a:rPr>
              <a:t>Demo mode — instant, no API key required</a:t>
            </a:r>
          </a:p>
          <a:p>
            <a:pPr algn="l">
              <a:spcBef>
                <a:spcPts val="500"/>
              </a:spcBef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FFFFFF"/>
                </a:solidFill>
                <a:latin typeface="Calibri"/>
              </a:rPr>
              <a:t>AI Enhanced — Orb asks 5 clarifying questions, LLM generates richer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70332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200" b="1">
                <a:solidFill>
                  <a:srgbClr val="60A5FA"/>
                </a:solidFill>
                <a:latin typeface="Calibri"/>
              </a:rPr>
              <a:t>Built for</a:t>
            </a:r>
          </a:p>
          <a:p>
            <a:pPr algn="l">
              <a:spcBef>
                <a:spcPts val="500"/>
              </a:spcBef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FFFFFF"/>
                </a:solidFill>
                <a:latin typeface="Calibri"/>
              </a:rPr>
              <a:t>Founders, RevOps teams</a:t>
            </a:r>
          </a:p>
          <a:p>
            <a:pPr algn="l">
              <a:spcBef>
                <a:spcPts val="500"/>
              </a:spcBef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FFFFFF"/>
                </a:solidFill>
                <a:latin typeface="Calibri"/>
              </a:rPr>
              <a:t>Salesforce admins &amp; consultants</a:t>
            </a:r>
          </a:p>
          <a:p>
            <a:pPr algn="l">
              <a:spcBef>
                <a:spcPts val="500"/>
              </a:spcBef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FFFFFF"/>
                </a:solidFill>
                <a:latin typeface="Calibri"/>
              </a:rPr>
              <a:t>Solution architects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64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05 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The 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11612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4864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344168"/>
            <a:ext cx="52120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1">
                <a:solidFill>
                  <a:srgbClr val="60A5FA"/>
                </a:solidFill>
                <a:latin typeface="Calibri"/>
              </a:rPr>
              <a:t>Frontend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3B82F6"/>
                </a:solidFill>
                <a:latin typeface="Calibri"/>
              </a:rPr>
              <a:t>• </a:t>
            </a:r>
            <a:r>
              <a:rPr sz="1600">
                <a:solidFill>
                  <a:srgbClr val="FFFFFF"/>
                </a:solidFill>
                <a:latin typeface="Calibri"/>
              </a:rPr>
              <a:t>Next.js 14 (App Router) + React 18 + TypeScript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3B82F6"/>
                </a:solidFill>
                <a:latin typeface="Calibri"/>
              </a:rPr>
              <a:t>• </a:t>
            </a:r>
            <a:r>
              <a:rPr sz="1600">
                <a:solidFill>
                  <a:srgbClr val="FFFFFF"/>
                </a:solidFill>
                <a:latin typeface="Calibri"/>
              </a:rPr>
              <a:t>Tailwind CSS + shadcn/ui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54864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344168"/>
            <a:ext cx="52120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1">
                <a:solidFill>
                  <a:srgbClr val="60A5FA"/>
                </a:solidFill>
                <a:latin typeface="Calibri"/>
              </a:rPr>
              <a:t>Database &amp; Auth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3B82F6"/>
                </a:solidFill>
                <a:latin typeface="Calibri"/>
              </a:rPr>
              <a:t>• </a:t>
            </a:r>
            <a:r>
              <a:rPr sz="1600">
                <a:solidFill>
                  <a:srgbClr val="FFFFFF"/>
                </a:solidFill>
                <a:latin typeface="Calibri"/>
              </a:rPr>
              <a:t>Prisma ORM + SQLite (local) / PostgreSQL (Vercel)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3B82F6"/>
                </a:solidFill>
                <a:latin typeface="Calibri"/>
              </a:rPr>
              <a:t>• </a:t>
            </a:r>
            <a:r>
              <a:rPr sz="1600">
                <a:solidFill>
                  <a:srgbClr val="FFFFFF"/>
                </a:solidFill>
                <a:latin typeface="Calibri"/>
              </a:rPr>
              <a:t>NextAuth v5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474720"/>
            <a:ext cx="54864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584448"/>
            <a:ext cx="52120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1">
                <a:solidFill>
                  <a:srgbClr val="60A5FA"/>
                </a:solidFill>
                <a:latin typeface="Calibri"/>
              </a:rPr>
              <a:t>AI / LLM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3B82F6"/>
                </a:solidFill>
                <a:latin typeface="Calibri"/>
              </a:rPr>
              <a:t>• </a:t>
            </a:r>
            <a:r>
              <a:rPr sz="1600">
                <a:solidFill>
                  <a:srgbClr val="FFFFFF"/>
                </a:solidFill>
                <a:latin typeface="Calibri"/>
              </a:rPr>
              <a:t>Anthropic Claude Sonnet → Gemini 2.0 Flash → Groq (fallback chain)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3B82F6"/>
                </a:solidFill>
                <a:latin typeface="Calibri"/>
              </a:rPr>
              <a:t>• </a:t>
            </a:r>
            <a:r>
              <a:rPr sz="1600">
                <a:solidFill>
                  <a:srgbClr val="FFFFFF"/>
                </a:solidFill>
                <a:latin typeface="Calibri"/>
              </a:rPr>
              <a:t>NVIDIA NIM (MiniMax M2.5) — chat widget fallback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474720"/>
            <a:ext cx="54864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3584448"/>
            <a:ext cx="52120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1">
                <a:solidFill>
                  <a:srgbClr val="60A5FA"/>
                </a:solidFill>
                <a:latin typeface="Calibri"/>
              </a:rPr>
              <a:t>Testing &amp; Deploy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3B82F6"/>
                </a:solidFill>
                <a:latin typeface="Calibri"/>
              </a:rPr>
              <a:t>• </a:t>
            </a:r>
            <a:r>
              <a:rPr sz="1600">
                <a:solidFill>
                  <a:srgbClr val="FFFFFF"/>
                </a:solidFill>
                <a:latin typeface="Calibri"/>
              </a:rPr>
              <a:t>Playwright (E2E tests)</a:t>
            </a:r>
          </a:p>
          <a:p>
            <a:pPr algn="l">
              <a:spcBef>
                <a:spcPts val="500"/>
              </a:spcBef>
            </a:pPr>
            <a:r>
              <a:rPr sz="1600" b="1">
                <a:solidFill>
                  <a:srgbClr val="3B82F6"/>
                </a:solidFill>
                <a:latin typeface="Calibri"/>
              </a:rPr>
              <a:t>• </a:t>
            </a:r>
            <a:r>
              <a:rPr sz="1600">
                <a:solidFill>
                  <a:srgbClr val="FFFFFF"/>
                </a:solidFill>
                <a:latin typeface="Calibri"/>
              </a:rPr>
              <a:t>Vercel (deployment)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64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06  Vibe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is Vibe Coding?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11612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11521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900" b="1">
                <a:solidFill>
                  <a:srgbClr val="3B82F6"/>
                </a:solidFill>
                <a:latin typeface="Calibri"/>
              </a:rPr>
              <a:t>• </a:t>
            </a:r>
            <a:r>
              <a:rPr sz="1900">
                <a:solidFill>
                  <a:srgbClr val="FFFFFF"/>
                </a:solidFill>
                <a:latin typeface="Calibri"/>
              </a:rPr>
              <a:t>"Vibe coding" = describing what you want in plain language, letting AI write it, reviewing and iterating</a:t>
            </a:r>
          </a:p>
          <a:p>
            <a:pPr algn="l">
              <a:spcBef>
                <a:spcPts val="500"/>
              </a:spcBef>
            </a:pPr>
            <a:r>
              <a:rPr sz="1900" b="1">
                <a:solidFill>
                  <a:srgbClr val="3B82F6"/>
                </a:solidFill>
                <a:latin typeface="Calibri"/>
              </a:rPr>
              <a:t>• </a:t>
            </a:r>
            <a:r>
              <a:rPr sz="1900">
                <a:solidFill>
                  <a:srgbClr val="FFFFFF"/>
                </a:solidFill>
                <a:latin typeface="Calibri"/>
              </a:rPr>
              <a:t>Not about knowing every syntax or framework</a:t>
            </a:r>
          </a:p>
          <a:p>
            <a:pPr algn="l">
              <a:spcBef>
                <a:spcPts val="500"/>
              </a:spcBef>
            </a:pPr>
            <a:r>
              <a:rPr sz="1900" b="1">
                <a:solidFill>
                  <a:srgbClr val="3B82F6"/>
                </a:solidFill>
                <a:latin typeface="Calibri"/>
              </a:rPr>
              <a:t>• </a:t>
            </a:r>
            <a:r>
              <a:rPr sz="1900">
                <a:solidFill>
                  <a:srgbClr val="FFFFFF"/>
                </a:solidFill>
                <a:latin typeface="Calibri"/>
              </a:rPr>
              <a:t>About having a clear idea + using AI as your co-developer</a:t>
            </a:r>
          </a:p>
          <a:p>
            <a:pPr algn="l">
              <a:spcBef>
                <a:spcPts val="500"/>
              </a:spcBef>
            </a:pPr>
            <a:r>
              <a:rPr sz="1900" b="1">
                <a:solidFill>
                  <a:srgbClr val="3B82F6"/>
                </a:solidFill>
                <a:latin typeface="Calibri"/>
              </a:rPr>
              <a:t>• </a:t>
            </a:r>
            <a:r>
              <a:rPr sz="1900">
                <a:solidFill>
                  <a:srgbClr val="FFFFFF"/>
                </a:solidFill>
                <a:latin typeface="Calibri"/>
              </a:rPr>
              <a:t>The developer's role shifts: from writing every line  →  to directing, reviewing, and validating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343400"/>
            <a:ext cx="1152144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343400"/>
            <a:ext cx="109728" cy="1691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462272"/>
            <a:ext cx="11064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60A5FA"/>
                </a:solidFill>
                <a:latin typeface="Calibri"/>
              </a:rPr>
              <a:t>"The beauty of vibe coding is not that AI replaces thinking. The beauty is that it removes friction, speeds up experimentation, and allows ideas to become real much faster."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64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07  The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How It Was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11612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075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2801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Started with a rough idea — not a full spec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29968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0574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299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Used Claude Code as the AI pair programmer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79776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8072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7977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Built in layers: core rules engine → Next.js app → auth → AI integration → tests → deployment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29584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5570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2958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Every blocker was solved by prompting — not Googling for hours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279392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30682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2793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Went from zero to production-deployed app in a weekend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02920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50566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029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Key mindset: ship a working thing first, improve it after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64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08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Live Demo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11612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075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2801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Open OrgBlueprint at localhost:3000 (or Vercel URL)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6596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933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Type a business description in plain English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5176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6791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651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Choose Demo mode → instant blueprint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33756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3649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375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Or choose AI Enhanced → Orb asks clarifying questions → richer 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02336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0507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023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Show all 6 dashboard tabs: Overview, Architecture, Data Model, Technical, Cost, Roadmap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70916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7365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7091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Show the floating AI chat widget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394960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54223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Show PDF export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64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09  Output Sections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OrgBlueprint Produces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11612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65760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2529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188720"/>
            <a:ext cx="781812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225296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What's inside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72768"/>
            <a:ext cx="36576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572768"/>
            <a:ext cx="781812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459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Executive Snapshot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45920"/>
            <a:ext cx="7635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Confidence score, complexity, user count, primary focus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67128"/>
            <a:ext cx="36576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3360" y="2167128"/>
            <a:ext cx="781812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2402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Product 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240280"/>
            <a:ext cx="7635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Recommended vs optional Salesforce products with rationale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61488"/>
            <a:ext cx="36576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23360" y="2761488"/>
            <a:ext cx="781812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834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834640"/>
            <a:ext cx="7635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OOTB vs custom, integration map, AppExchange picks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355848"/>
            <a:ext cx="36576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60" y="3355848"/>
            <a:ext cx="781812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4290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Data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429000"/>
            <a:ext cx="7635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Entity cards, relationship diagram, automations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950208"/>
            <a:ext cx="36576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23360" y="3950208"/>
            <a:ext cx="781812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0233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Technical Blueprint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023360"/>
            <a:ext cx="7635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Platform-specific guidance per product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44568"/>
            <a:ext cx="36576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23360" y="4544568"/>
            <a:ext cx="781812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6177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Cost Estimate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617720"/>
            <a:ext cx="7635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Directional year-one range (not a quote)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138928"/>
            <a:ext cx="36576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23360" y="5138928"/>
            <a:ext cx="781812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212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Roadmap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212080"/>
            <a:ext cx="7635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Phased delivery + implementation checklist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733288"/>
            <a:ext cx="36576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23360" y="5733288"/>
            <a:ext cx="781812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806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Document Checklist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5806440"/>
            <a:ext cx="7635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BRD, data model, security model, test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64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10  AI's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AI Actually Did in This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11612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900" b="1">
                <a:solidFill>
                  <a:srgbClr val="3B82F6"/>
                </a:solidFill>
                <a:latin typeface="Calibri"/>
              </a:rPr>
              <a:t>• </a:t>
            </a:r>
            <a:r>
              <a:rPr sz="1900">
                <a:solidFill>
                  <a:srgbClr val="FFFFFF"/>
                </a:solidFill>
                <a:latin typeface="Calibri"/>
              </a:rPr>
              <a:t>Wrote 80%+ of the boilerplate code</a:t>
            </a:r>
          </a:p>
          <a:p>
            <a:pPr algn="l">
              <a:spcBef>
                <a:spcPts val="500"/>
              </a:spcBef>
            </a:pPr>
            <a:r>
              <a:rPr sz="1900" b="1">
                <a:solidFill>
                  <a:srgbClr val="3B82F6"/>
                </a:solidFill>
                <a:latin typeface="Calibri"/>
              </a:rPr>
              <a:t>• </a:t>
            </a:r>
            <a:r>
              <a:rPr sz="1900">
                <a:solidFill>
                  <a:srgbClr val="FFFFFF"/>
                </a:solidFill>
                <a:latin typeface="Calibri"/>
              </a:rPr>
              <a:t>Debugged TypeScript errors in seconds</a:t>
            </a:r>
          </a:p>
          <a:p>
            <a:pPr algn="l">
              <a:spcBef>
                <a:spcPts val="500"/>
              </a:spcBef>
            </a:pPr>
            <a:r>
              <a:rPr sz="1900" b="1">
                <a:solidFill>
                  <a:srgbClr val="3B82F6"/>
                </a:solidFill>
                <a:latin typeface="Calibri"/>
              </a:rPr>
              <a:t>• </a:t>
            </a:r>
            <a:r>
              <a:rPr sz="1900">
                <a:solidFill>
                  <a:srgbClr val="FFFFFF"/>
                </a:solidFill>
                <a:latin typeface="Calibri"/>
              </a:rPr>
              <a:t>Suggested architecture patterns</a:t>
            </a:r>
          </a:p>
          <a:p>
            <a:pPr algn="l">
              <a:spcBef>
                <a:spcPts val="500"/>
              </a:spcBef>
            </a:pPr>
            <a:r>
              <a:rPr sz="1900" b="1">
                <a:solidFill>
                  <a:srgbClr val="3B82F6"/>
                </a:solidFill>
                <a:latin typeface="Calibri"/>
              </a:rPr>
              <a:t>• </a:t>
            </a:r>
            <a:r>
              <a:rPr sz="1900">
                <a:solidFill>
                  <a:srgbClr val="FFFFFF"/>
                </a:solidFill>
                <a:latin typeface="Calibri"/>
              </a:rPr>
              <a:t>Generated the E2E test suite</a:t>
            </a:r>
          </a:p>
          <a:p>
            <a:pPr algn="l">
              <a:spcBef>
                <a:spcPts val="500"/>
              </a:spcBef>
            </a:pPr>
            <a:r>
              <a:rPr sz="1900" b="1">
                <a:solidFill>
                  <a:srgbClr val="3B82F6"/>
                </a:solidFill>
                <a:latin typeface="Calibri"/>
              </a:rPr>
              <a:t>• </a:t>
            </a:r>
            <a:r>
              <a:rPr sz="1900">
                <a:solidFill>
                  <a:srgbClr val="FFFFFF"/>
                </a:solidFill>
                <a:latin typeface="Calibri"/>
              </a:rPr>
              <a:t>Fixed race conditions in React state</a:t>
            </a:r>
          </a:p>
          <a:p>
            <a:pPr algn="l">
              <a:spcBef>
                <a:spcPts val="500"/>
              </a:spcBef>
            </a:pPr>
            <a:r>
              <a:rPr sz="1900" b="1">
                <a:solidFill>
                  <a:srgbClr val="3B82F6"/>
                </a:solidFill>
                <a:latin typeface="Calibri"/>
              </a:rPr>
              <a:t>• </a:t>
            </a:r>
            <a:r>
              <a:rPr sz="1900">
                <a:solidFill>
                  <a:srgbClr val="FFFFFF"/>
                </a:solidFill>
                <a:latin typeface="Calibri"/>
              </a:rPr>
              <a:t>Rewrote and improved the README</a:t>
            </a:r>
          </a:p>
          <a:p>
            <a:pPr algn="l">
              <a:spcBef>
                <a:spcPts val="500"/>
              </a:spcBef>
            </a:pPr>
            <a:r>
              <a:rPr sz="1900" b="1">
                <a:solidFill>
                  <a:srgbClr val="3B82F6"/>
                </a:solidFill>
                <a:latin typeface="Calibri"/>
              </a:rPr>
              <a:t>• </a:t>
            </a:r>
            <a:r>
              <a:rPr sz="1900">
                <a:solidFill>
                  <a:srgbClr val="FFFFFF"/>
                </a:solidFill>
                <a:latin typeface="Calibri"/>
              </a:rPr>
              <a:t>Suggested better UX patterns for mobile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234440"/>
            <a:ext cx="420624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1234440"/>
            <a:ext cx="91440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463040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60A5FA"/>
                </a:solidFill>
                <a:latin typeface="Calibri"/>
              </a:rPr>
              <a:t>"I directed.
AI executed.
I reviewed.
We iterated."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64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11  Q&amp;A — Technical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Q&amp;A — Technical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11612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2144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Q: How long did this actually take to build?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1848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A: Initial working prototype — about a weekend. Getting it production-quality with auth, tests, deployment, and AI fallbacks took a few more sessions.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12848"/>
            <a:ext cx="1152144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5856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Q: What if Claude gives wrong code?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96896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A: You review it. Vibe coding doesn't mean you stop thinking — it means you spend less time typing and more time validating.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191256"/>
            <a:ext cx="1152144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3697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Q: How do you handle the AI going off-track or hallucinations?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7530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A: Guardrails in the system prompt + deterministic fallback (rules engine). The app never returns bad data silently.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169664"/>
            <a:ext cx="1152144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1538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Q: Is this production-ready or just a demo?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5371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A: It's live on Vercel, has a real database, auth, rate limiting, E2E tests, and a CI/CD pipeline. That's production by most definitions.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148072"/>
            <a:ext cx="1152144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937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Q: What was the hardest technical problem?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53212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A: TypeScript type mismatches between browser and Node.js environments. And getting the AI conversation flow deterministic so it never hangs.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64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12  Q&amp;A —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Q&amp;A — Non-Technical / General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11612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21440" cy="7863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71016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Q: How did you find the time?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81912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A: I use weekends — not because I have to, but because I'm genuinely curious. Even 2-3 hours on a Saturday compounds over months.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66544"/>
            <a:ext cx="11521440" cy="7863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Q: Isn't this just using ChatGPT to code?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14016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A: Claude Code is a dedicated AI coding agent — it reads your whole codebase, edits files, runs tests, and works like a pair programmer with full project context.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898648"/>
            <a:ext cx="11521440" cy="7863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35224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Q: Should I be worried about AI replacing my job?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A: AI is not replacing people — it's replacing tasks. The people who learn to use AI as a tool will move faster, build more, and create more value.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30752"/>
            <a:ext cx="11521440" cy="7863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673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Q: Do you need a CS degree to vibe code?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78224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A: No. You need a clear idea, patience to iterate, and enough curiosity to try. The AI handles the syntax.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562856"/>
            <a:ext cx="11521440" cy="7863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5994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Q: Why Salesforce specifically?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10328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A: Expensive, complex ecosystem where the gap between 'what a business needs' and 'what an expert recommends' is huge — exactly where AI adds value.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94960"/>
            <a:ext cx="11521440" cy="7863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431536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Q: How do you know the Salesforce recommendations are correct?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42432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A: Based on a deterministic rules engine with explicit guardrails — same logic a solutions architect would apply. AI enhances the narrative, not the product logic.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164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13 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52144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3000" b="1">
                <a:solidFill>
                  <a:srgbClr val="60A5FA"/>
                </a:solidFill>
                <a:latin typeface="Calibri"/>
              </a:rPr>
              <a:t>We are already in the middle of the AI era.</a:t>
            </a:r>
          </a:p>
          <a:p>
            <a:pPr>
              <a:spcBef>
                <a:spcPts val="200"/>
              </a:spcBef>
            </a:pPr>
            <a:r>
              <a:rPr sz="2600" b="0">
                <a:solidFill>
                  <a:srgbClr val="FFFFFF"/>
                </a:solidFill>
                <a:latin typeface="Calibri"/>
              </a:rPr>
              <a:t>This is not the warm-up. This is the race.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Speed matters. Curiosity matters. Adaptability matters.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94A3B8"/>
                </a:solidFill>
                <a:latin typeface="Calibri"/>
              </a:rPr>
              <a:t>You do not need to know every tool.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94A3B8"/>
                </a:solidFill>
                <a:latin typeface="Calibri"/>
              </a:rPr>
              <a:t>But you should be willing to try. To learn. To build.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60A5FA"/>
                </a:solidFill>
                <a:latin typeface="Calibri"/>
              </a:rPr>
              <a:t>Open the tool. Test the idea. Build the prototype.</a:t>
            </a: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FFFFFF"/>
                </a:solidFill>
                <a:latin typeface="Calibri"/>
              </a:rPr>
              <a:t>Because once you do that, AI stops being hype. It becomes leverage.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2800" b="1">
                <a:solidFill>
                  <a:srgbClr val="34D399"/>
                </a:solidFill>
                <a:latin typeface="Calibri"/>
              </a:rPr>
              <a:t>So start small, but start now.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164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14  Closing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1">
                <a:solidFill>
                  <a:srgbClr val="60A5FA"/>
                </a:solidFill>
                <a:latin typeface="Calibri"/>
              </a:rPr>
              <a:t>"The beauty of vibe coding is not that AI replaces thinking.
The beauty is that it removes friction, speeds up experimentation,
and allows ideas to become real much faster."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526280"/>
            <a:ext cx="5760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Calibri"/>
              </a:rPr>
              <a:t>OrgBlueprint — built with Claude Code, Gemini, Next.js, and a lot of curiosity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Calibri"/>
              </a:rPr>
              <a:t>github.com/iamnawin/orgblueprint-app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606040"/>
            <a:ext cx="57607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94A3B8"/>
                </a:solidFill>
                <a:latin typeface="Calibri"/>
              </a:rPr>
              <a:t>Happy to take any questions
— technical, non-technical, or just curious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64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15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